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68"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custDataLst>
    <p:tags r:id="rId14"/>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0042A6-73B7-4730-9D26-79B5773D29C5}" v="29" dt="2026-04-08T16:20:38.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5033" autoAdjust="0"/>
  </p:normalViewPr>
  <p:slideViewPr>
    <p:cSldViewPr snapToGrid="0" snapToObjects="1">
      <p:cViewPr varScale="1">
        <p:scale>
          <a:sx n="109" d="100"/>
          <a:sy n="109" d="100"/>
        </p:scale>
        <p:origin x="706" y="101"/>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nal Genani" userId="d1fd93578f9e8c8c" providerId="LiveId" clId="{0300D4C8-DA04-4726-B3A2-E37C61829253}"/>
    <pc:docChg chg="undo custSel modSld">
      <pc:chgData name="Sonal Genani" userId="d1fd93578f9e8c8c" providerId="LiveId" clId="{0300D4C8-DA04-4726-B3A2-E37C61829253}" dt="2026-04-08T16:21:16.237" v="214" actId="255"/>
      <pc:docMkLst>
        <pc:docMk/>
      </pc:docMkLst>
      <pc:sldChg chg="addSp modSp mod">
        <pc:chgData name="Sonal Genani" userId="d1fd93578f9e8c8c" providerId="LiveId" clId="{0300D4C8-DA04-4726-B3A2-E37C61829253}" dt="2026-04-08T12:38:40.611" v="166" actId="20577"/>
        <pc:sldMkLst>
          <pc:docMk/>
          <pc:sldMk cId="0" sldId="258"/>
        </pc:sldMkLst>
        <pc:spChg chg="add">
          <ac:chgData name="Sonal Genani" userId="d1fd93578f9e8c8c" providerId="LiveId" clId="{0300D4C8-DA04-4726-B3A2-E37C61829253}" dt="2026-04-08T12:37:13.378" v="142"/>
          <ac:spMkLst>
            <pc:docMk/>
            <pc:sldMk cId="0" sldId="258"/>
            <ac:spMk id="3" creationId="{7B9E220D-791A-EDE0-6883-D3A6859CDE83}"/>
          </ac:spMkLst>
        </pc:spChg>
        <pc:spChg chg="add">
          <ac:chgData name="Sonal Genani" userId="d1fd93578f9e8c8c" providerId="LiveId" clId="{0300D4C8-DA04-4726-B3A2-E37C61829253}" dt="2026-04-08T12:37:26.519" v="159"/>
          <ac:spMkLst>
            <pc:docMk/>
            <pc:sldMk cId="0" sldId="258"/>
            <ac:spMk id="5" creationId="{638D90F8-3C0E-6ED0-5636-6F4754FC246F}"/>
          </ac:spMkLst>
        </pc:spChg>
        <pc:spChg chg="mod">
          <ac:chgData name="Sonal Genani" userId="d1fd93578f9e8c8c" providerId="LiveId" clId="{0300D4C8-DA04-4726-B3A2-E37C61829253}" dt="2026-04-08T12:38:40.611" v="166" actId="20577"/>
          <ac:spMkLst>
            <pc:docMk/>
            <pc:sldMk cId="0" sldId="258"/>
            <ac:spMk id="7" creationId="{38849028-F25C-7DA0-DE56-0DC142EECABD}"/>
          </ac:spMkLst>
        </pc:spChg>
      </pc:sldChg>
      <pc:sldChg chg="addSp modSp mod">
        <pc:chgData name="Sonal Genani" userId="d1fd93578f9e8c8c" providerId="LiveId" clId="{0300D4C8-DA04-4726-B3A2-E37C61829253}" dt="2026-04-05T18:49:47.832" v="126" actId="2711"/>
        <pc:sldMkLst>
          <pc:docMk/>
          <pc:sldMk cId="0" sldId="261"/>
        </pc:sldMkLst>
        <pc:spChg chg="mod">
          <ac:chgData name="Sonal Genani" userId="d1fd93578f9e8c8c" providerId="LiveId" clId="{0300D4C8-DA04-4726-B3A2-E37C61829253}" dt="2026-04-05T18:44:18.810" v="66" actId="2711"/>
          <ac:spMkLst>
            <pc:docMk/>
            <pc:sldMk cId="0" sldId="261"/>
            <ac:spMk id="9" creationId="{00000000-0000-0000-0000-000000000000}"/>
          </ac:spMkLst>
        </pc:spChg>
        <pc:spChg chg="mod">
          <ac:chgData name="Sonal Genani" userId="d1fd93578f9e8c8c" providerId="LiveId" clId="{0300D4C8-DA04-4726-B3A2-E37C61829253}" dt="2026-04-05T18:43:56.672" v="64" actId="2711"/>
          <ac:spMkLst>
            <pc:docMk/>
            <pc:sldMk cId="0" sldId="261"/>
            <ac:spMk id="13" creationId="{00000000-0000-0000-0000-000000000000}"/>
          </ac:spMkLst>
        </pc:spChg>
        <pc:spChg chg="mod">
          <ac:chgData name="Sonal Genani" userId="d1fd93578f9e8c8c" providerId="LiveId" clId="{0300D4C8-DA04-4726-B3A2-E37C61829253}" dt="2026-04-05T18:47:01.685" v="100" actId="20577"/>
          <ac:spMkLst>
            <pc:docMk/>
            <pc:sldMk cId="0" sldId="261"/>
            <ac:spMk id="17" creationId="{00000000-0000-0000-0000-000000000000}"/>
          </ac:spMkLst>
        </pc:spChg>
        <pc:spChg chg="mod">
          <ac:chgData name="Sonal Genani" userId="d1fd93578f9e8c8c" providerId="LiveId" clId="{0300D4C8-DA04-4726-B3A2-E37C61829253}" dt="2026-04-05T18:49:47.832" v="126" actId="2711"/>
          <ac:spMkLst>
            <pc:docMk/>
            <pc:sldMk cId="0" sldId="261"/>
            <ac:spMk id="21" creationId="{00000000-0000-0000-0000-000000000000}"/>
          </ac:spMkLst>
        </pc:spChg>
      </pc:sldChg>
      <pc:sldChg chg="addSp delSp modSp mod delAnim">
        <pc:chgData name="Sonal Genani" userId="d1fd93578f9e8c8c" providerId="LiveId" clId="{0300D4C8-DA04-4726-B3A2-E37C61829253}" dt="2026-04-08T16:21:16.237" v="214" actId="255"/>
        <pc:sldMkLst>
          <pc:docMk/>
          <pc:sldMk cId="0" sldId="263"/>
        </pc:sldMkLst>
        <pc:spChg chg="add mod">
          <ac:chgData name="Sonal Genani" userId="d1fd93578f9e8c8c" providerId="LiveId" clId="{0300D4C8-DA04-4726-B3A2-E37C61829253}" dt="2026-04-08T16:20:21.920" v="209"/>
          <ac:spMkLst>
            <pc:docMk/>
            <pc:sldMk cId="0" sldId="263"/>
            <ac:spMk id="3" creationId="{00000000-0000-0000-0000-000000000000}"/>
          </ac:spMkLst>
        </pc:spChg>
        <pc:spChg chg="add mod">
          <ac:chgData name="Sonal Genani" userId="d1fd93578f9e8c8c" providerId="LiveId" clId="{0300D4C8-DA04-4726-B3A2-E37C61829253}" dt="2026-04-08T16:20:24.919" v="210"/>
          <ac:spMkLst>
            <pc:docMk/>
            <pc:sldMk cId="0" sldId="263"/>
            <ac:spMk id="5" creationId="{7D0ED2D7-05F3-4B9C-0E38-3E16B7646BEA}"/>
          </ac:spMkLst>
        </pc:spChg>
        <pc:spChg chg="del mod">
          <ac:chgData name="Sonal Genani" userId="d1fd93578f9e8c8c" providerId="LiveId" clId="{0300D4C8-DA04-4726-B3A2-E37C61829253}" dt="2026-04-08T16:20:03.954" v="172" actId="21"/>
          <ac:spMkLst>
            <pc:docMk/>
            <pc:sldMk cId="0" sldId="263"/>
            <ac:spMk id="11" creationId="{00000000-0000-0000-0000-000000000000}"/>
          </ac:spMkLst>
        </pc:spChg>
        <pc:spChg chg="mod">
          <ac:chgData name="Sonal Genani" userId="d1fd93578f9e8c8c" providerId="LiveId" clId="{0300D4C8-DA04-4726-B3A2-E37C61829253}" dt="2026-04-08T16:21:16.237" v="214" actId="255"/>
          <ac:spMkLst>
            <pc:docMk/>
            <pc:sldMk cId="0" sldId="263"/>
            <ac:spMk id="12" creationId="{00000000-0000-0000-0000-000000000000}"/>
          </ac:spMkLst>
        </pc:spChg>
        <pc:picChg chg="del">
          <ac:chgData name="Sonal Genani" userId="d1fd93578f9e8c8c" providerId="LiveId" clId="{0300D4C8-DA04-4726-B3A2-E37C61829253}" dt="2026-04-08T16:18:49.157" v="167" actId="21"/>
          <ac:picMkLst>
            <pc:docMk/>
            <pc:sldMk cId="0" sldId="263"/>
            <ac:picMk id="2" creationId="{82F98FA1-671D-46D1-4749-53F1DD9C8B5F}"/>
          </ac:picMkLst>
        </pc:picChg>
      </pc:sldChg>
      <pc:sldChg chg="modSp mod">
        <pc:chgData name="Sonal Genani" userId="d1fd93578f9e8c8c" providerId="LiveId" clId="{0300D4C8-DA04-4726-B3A2-E37C61829253}" dt="2026-04-05T18:52:20.004" v="132" actId="14100"/>
        <pc:sldMkLst>
          <pc:docMk/>
          <pc:sldMk cId="0" sldId="264"/>
        </pc:sldMkLst>
        <pc:spChg chg="mod">
          <ac:chgData name="Sonal Genani" userId="d1fd93578f9e8c8c" providerId="LiveId" clId="{0300D4C8-DA04-4726-B3A2-E37C61829253}" dt="2026-04-05T18:52:20.004" v="132" actId="14100"/>
          <ac:spMkLst>
            <pc:docMk/>
            <pc:sldMk cId="0" sldId="264"/>
            <ac:spMk id="14" creationId="{00000000-0000-0000-0000-000000000000}"/>
          </ac:spMkLst>
        </pc:spChg>
      </pc:sldChg>
      <pc:sldChg chg="modSp mod">
        <pc:chgData name="Sonal Genani" userId="d1fd93578f9e8c8c" providerId="LiveId" clId="{0300D4C8-DA04-4726-B3A2-E37C61829253}" dt="2026-04-05T18:55:02.630" v="140" actId="2711"/>
        <pc:sldMkLst>
          <pc:docMk/>
          <pc:sldMk cId="0" sldId="265"/>
        </pc:sldMkLst>
        <pc:spChg chg="mod">
          <ac:chgData name="Sonal Genani" userId="d1fd93578f9e8c8c" providerId="LiveId" clId="{0300D4C8-DA04-4726-B3A2-E37C61829253}" dt="2026-04-05T18:55:02.630" v="140" actId="2711"/>
          <ac:spMkLst>
            <pc:docMk/>
            <pc:sldMk cId="0" sldId="265"/>
            <ac:spMk id="1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hyperlink" Target="https://1drv.ms/v/c/D1FD93578F9E8C8C/IQBnqRj4Yu6hTp_tWBOeDdYSAaGVZuHmiJ-zouaw8Fbe6vs?e=SOLEml" TargetMode="Externa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633432"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Sonal Genani</a:t>
            </a: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sgenani4@gmail.com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Uma Maheshwari Ma’am</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173754" y="1046557"/>
            <a:ext cx="3854253" cy="1849530"/>
          </a:xfrm>
          <a:prstGeom prst="rect">
            <a:avLst/>
          </a:prstGeom>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631763"/>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400" dirty="0"/>
              <a:t>This project focuses on analyzing healthcare patient data to transform raw, inconsistent records into meaningful insights for better decision-making.</a:t>
            </a:r>
          </a:p>
          <a:p>
            <a:pPr marL="228600" indent="-228600">
              <a:spcAft>
                <a:spcPts val="800"/>
              </a:spcAft>
              <a:buFont typeface="Arial" panose="020B0604020202020204" pitchFamily="34" charset="0"/>
              <a:buChar char="•"/>
              <a:tabLst>
                <a:tab pos="4229100" algn="ctr"/>
              </a:tabLst>
            </a:pPr>
            <a:r>
              <a:rPr lang="en-US" sz="1400" dirty="0"/>
              <a:t> The main objective is to clean, process, and visualize patient data to understand trends in admissions, medical conditions, and hospital performance.</a:t>
            </a:r>
          </a:p>
          <a:p>
            <a:pPr marL="228600" indent="-228600">
              <a:spcAft>
                <a:spcPts val="800"/>
              </a:spcAft>
              <a:buFont typeface="Arial" panose="020B0604020202020204" pitchFamily="34" charset="0"/>
              <a:buChar char="•"/>
              <a:tabLst>
                <a:tab pos="4229100" algn="ctr"/>
              </a:tabLst>
            </a:pPr>
            <a:r>
              <a:rPr lang="en-US" sz="1400" dirty="0"/>
              <a:t>Tools such as Microsoft Excel, Power BI, and Microsoft Copilot are used for data cleaning, analysis, visualization, and AI-assisted insight generation.</a:t>
            </a:r>
          </a:p>
          <a:p>
            <a:pPr marL="228600" indent="-228600">
              <a:spcAft>
                <a:spcPts val="800"/>
              </a:spcAft>
              <a:buFont typeface="Arial" panose="020B0604020202020204" pitchFamily="34" charset="0"/>
              <a:buChar char="•"/>
              <a:tabLst>
                <a:tab pos="4229100" algn="ctr"/>
              </a:tabLst>
            </a:pPr>
            <a:r>
              <a:rPr lang="en-US" sz="1400" dirty="0"/>
              <a:t> The expected outcome is an interactive dashboard that highlights key metrics like patient distribution, disease burden, length of stay, and cost of care. A key highlight of the project is the integration of AI to generate insights, improve reporting efficiency, and support proactive, data-driven healthcare management.</a:t>
            </a:r>
            <a:endParaRPr lang="en-US" sz="1400" dirty="0">
              <a:latin typeface="Lato" panose="020F0502020204030203" pitchFamily="34" charset="0"/>
              <a:ea typeface="+mn-lt"/>
              <a:cs typeface="Arial" panose="020B0604020202020204" pitchFamily="34" charset="0"/>
            </a:endParaRP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041333" y="1026942"/>
            <a:ext cx="3794058" cy="3794058"/>
          </a:xfrm>
          <a:prstGeom prst="rect">
            <a:avLst/>
          </a:prstGeom>
        </p:spPr>
      </p:pic>
      <p:sp>
        <p:nvSpPr>
          <p:cNvPr id="4" name="Text 2"/>
          <p:cNvSpPr/>
          <p:nvPr/>
        </p:nvSpPr>
        <p:spPr>
          <a:xfrm>
            <a:off x="120623" y="611286"/>
            <a:ext cx="3185285" cy="262474"/>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0623" y="1026942"/>
            <a:ext cx="6287211" cy="4154984"/>
          </a:xfrm>
          <a:prstGeom prst="rect">
            <a:avLst/>
          </a:prstGeom>
          <a:noFill/>
        </p:spPr>
        <p:txBody>
          <a:bodyPr wrap="square">
            <a:spAutoFit/>
          </a:bodyPr>
          <a:lstStyle/>
          <a:p>
            <a:pPr marL="171450" lvl="0" indent="-171450">
              <a:buFont typeface="Arial" panose="020B0604020202020204" pitchFamily="34" charset="0"/>
              <a:buChar char="•"/>
            </a:pPr>
            <a:r>
              <a:rPr lang="en-IN" sz="1200" b="1" dirty="0"/>
              <a:t>Healthcare Data Issues</a:t>
            </a:r>
            <a:r>
              <a:rPr lang="en-IN" sz="1200" dirty="0"/>
              <a:t>- Large volumes of data are collected daily but remain raw, inconsistent, and poorly structured. Poor data quality limits meaningful insights and informed decision-making.</a:t>
            </a:r>
          </a:p>
          <a:p>
            <a:pPr marL="171450" lvl="0" indent="-171450">
              <a:buFont typeface="Arial" panose="020B0604020202020204" pitchFamily="34" charset="0"/>
              <a:buChar char="•"/>
            </a:pPr>
            <a:r>
              <a:rPr lang="en-IN" sz="1200" b="1" dirty="0"/>
              <a:t>Decision-Making Needs</a:t>
            </a:r>
            <a:r>
              <a:rPr lang="en-IN" sz="1200" dirty="0"/>
              <a:t>- Clean, accurate, and well-visualized data is essential for healthcare administrators and clinicians. Current limitations lead to underutilization of available information.</a:t>
            </a:r>
          </a:p>
          <a:p>
            <a:pPr marL="171450" lvl="0" indent="-171450">
              <a:buFont typeface="Arial" panose="020B0604020202020204" pitchFamily="34" charset="0"/>
              <a:buChar char="•"/>
            </a:pPr>
            <a:r>
              <a:rPr lang="en-IN" sz="1200" b="1" dirty="0"/>
              <a:t>AI Opportunities and Skills Gap</a:t>
            </a:r>
            <a:r>
              <a:rPr lang="en-IN" sz="1200" dirty="0"/>
              <a:t>- Generative AI tools (e.g., Microsoft Copilot, AI chatbots) can accelerate data analysis. Effective use requires prompt engineering skills, which most professionals lack.</a:t>
            </a:r>
          </a:p>
          <a:p>
            <a:pPr marL="171450" lvl="0" indent="-171450">
              <a:buFont typeface="Arial" panose="020B0604020202020204" pitchFamily="34" charset="0"/>
              <a:buChar char="•"/>
            </a:pPr>
            <a:r>
              <a:rPr lang="en-IN" sz="1200" b="1" dirty="0"/>
              <a:t>Project Objectives</a:t>
            </a:r>
            <a:r>
              <a:rPr lang="en-IN" sz="1200" dirty="0"/>
              <a:t>- Apply data cleaning, analysis, visualization, and AI integration techniques. Demonstrate structured workflows that produce actionable insights in healthcare.</a:t>
            </a:r>
          </a:p>
          <a:p>
            <a:pPr marL="171450" lvl="0" indent="-171450">
              <a:buFont typeface="Arial" panose="020B0604020202020204" pitchFamily="34" charset="0"/>
              <a:buChar char="•"/>
            </a:pPr>
            <a:r>
              <a:rPr lang="en-IN" sz="1200" b="1" dirty="0"/>
              <a:t>Key Challenges Addressed</a:t>
            </a:r>
            <a:endParaRPr lang="en-IN" sz="1200" dirty="0"/>
          </a:p>
          <a:p>
            <a:pPr marL="628650" lvl="1" indent="-171450">
              <a:buFont typeface="Courier New" panose="02070309020205020404" pitchFamily="49" charset="0"/>
              <a:buChar char="o"/>
            </a:pPr>
            <a:r>
              <a:rPr lang="en-IN" sz="1200" dirty="0"/>
              <a:t>Irregular patient data formatting prevents accurate tracking.</a:t>
            </a:r>
          </a:p>
          <a:p>
            <a:pPr marL="628650" lvl="1" indent="-171450">
              <a:buFont typeface="Courier New" panose="02070309020205020404" pitchFamily="49" charset="0"/>
              <a:buChar char="o"/>
            </a:pPr>
            <a:r>
              <a:rPr lang="en-IN" sz="1200" dirty="0"/>
              <a:t>Difficulty correlating medical conditions, medications, and test results.</a:t>
            </a:r>
          </a:p>
          <a:p>
            <a:pPr marL="628650" lvl="1" indent="-171450">
              <a:buFont typeface="Courier New" panose="02070309020205020404" pitchFamily="49" charset="0"/>
              <a:buChar char="o"/>
            </a:pPr>
            <a:r>
              <a:rPr lang="en-IN" sz="1200" dirty="0"/>
              <a:t>Fragmented patient histories across departments hinder comprehensive care.</a:t>
            </a:r>
          </a:p>
          <a:p>
            <a:pPr marL="628650" lvl="1" indent="-171450">
              <a:buFont typeface="Courier New" panose="02070309020205020404" pitchFamily="49" charset="0"/>
              <a:buChar char="o"/>
            </a:pPr>
            <a:r>
              <a:rPr lang="en-IN" sz="1200" dirty="0"/>
              <a:t>Limited visualization restricts identification of KPIs (e.g., bed occupancy, emergency admissions).</a:t>
            </a:r>
          </a:p>
          <a:p>
            <a:pPr marL="171450" lvl="0" indent="-171450">
              <a:buFont typeface="Arial" panose="020B0604020202020204" pitchFamily="34" charset="0"/>
              <a:buChar char="•"/>
            </a:pPr>
            <a:r>
              <a:rPr lang="en-IN" sz="1200" b="1" dirty="0"/>
              <a:t>Expected Outcomes</a:t>
            </a:r>
            <a:endParaRPr lang="en-IN" sz="1200" dirty="0"/>
          </a:p>
          <a:p>
            <a:pPr marL="628650" lvl="1" indent="-171450">
              <a:buFont typeface="Courier New" panose="02070309020205020404" pitchFamily="49" charset="0"/>
              <a:buChar char="o"/>
            </a:pPr>
            <a:r>
              <a:rPr lang="en-IN" sz="1200" dirty="0"/>
              <a:t>Improved tracking of rates and chronic disease trends.</a:t>
            </a:r>
          </a:p>
          <a:p>
            <a:pPr marL="628650" lvl="1" indent="-171450">
              <a:buFont typeface="Courier New" panose="02070309020205020404" pitchFamily="49" charset="0"/>
              <a:buChar char="o"/>
            </a:pPr>
            <a:r>
              <a:rPr lang="en-IN" sz="1200" dirty="0"/>
              <a:t>Transition from reactive to proactive healthcare.</a:t>
            </a:r>
          </a:p>
          <a:p>
            <a:pPr marL="628650" lvl="1" indent="-171450">
              <a:buFont typeface="Courier New" panose="02070309020205020404" pitchFamily="49" charset="0"/>
              <a:buChar char="o"/>
            </a:pPr>
            <a:r>
              <a:rPr lang="en-IN" sz="1200" dirty="0"/>
              <a:t>Enhanced operational efficiency and patient outcomes through AI-assisted workflows.</a:t>
            </a:r>
          </a:p>
          <a:p>
            <a:pPr marL="228600" indent="-228600">
              <a:spcAft>
                <a:spcPts val="800"/>
              </a:spcAft>
              <a:buFont typeface="Arial" panose="020B0604020202020204" pitchFamily="34" charset="0"/>
              <a:buChar char="•"/>
              <a:tabLst>
                <a:tab pos="4229100" algn="ctr"/>
              </a:tabLst>
            </a:pPr>
            <a:endParaRPr lang="en-US" sz="1200" dirty="0">
              <a:latin typeface="Lato" panose="020F0502020204030203" pitchFamily="34" charset="0"/>
              <a:ea typeface="+mn-lt"/>
              <a:cs typeface="Arial" panose="020B0604020202020204" pitchFamily="34" charset="0"/>
            </a:endParaRP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526282" y="970671"/>
            <a:ext cx="4617718" cy="3958044"/>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55841"/>
            <a:ext cx="5452354" cy="3464891"/>
          </a:xfrm>
          <a:prstGeom prst="rect">
            <a:avLst/>
          </a:prstGeom>
          <a:noFill/>
          <a:ln/>
        </p:spPr>
        <p:txBody>
          <a:bodyPr wrap="square" rtlCol="0" anchor="t"/>
          <a:lstStyle/>
          <a:p>
            <a:r>
              <a:rPr lang="en-US" sz="1600" dirty="0"/>
              <a:t>The proposed solution leverages a structured five-phase framework—data collection, cleaning, analysis, visualization, and documentation—to transform fragmented hospital records into actionable insights. Using Excel and Power BI, we standardize formats, remove duplicates, and compute KPIs such as bed occupancy and admission trends. Copilot integration enhances analysis by generating summaries, interpreting trends, and recommending preventive care strategies. Interactive dashboards provide unified patient views and predictive models for readmission risks. Compared to traditional methods, this approach combines AI-driven prompt engineering with robust visualization, enabling proactive healthcare decisions, optimized resource utilization, and improved patient outcomes.</a:t>
            </a: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r>
              <a:rPr lang="en-US" sz="1400" dirty="0">
                <a:latin typeface="Arial" panose="020B0604020202020204" pitchFamily="34" charset="0"/>
                <a:cs typeface="Arial" panose="020B0604020202020204" pitchFamily="34" charset="0"/>
              </a:rPr>
              <a:t>The project used a healthcare dataset in Excel format sourced from Kaggle, uploaded manually and analyzed using Excel, Power BI, and AI tools like Copilot</a:t>
            </a:r>
            <a:r>
              <a:rPr lang="en-US" sz="1600" dirty="0"/>
              <a:t>.</a:t>
            </a:r>
            <a:endParaRPr lang="en-US" sz="1600" dirty="0">
              <a:latin typeface="Lato" panose="020F0502020204030203" pitchFamily="34" charset="0"/>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r>
              <a:rPr lang="en-US" sz="1400" dirty="0">
                <a:solidFill>
                  <a:srgbClr val="1A1A2E"/>
                </a:solidFill>
                <a:latin typeface="Arial" panose="020B0604020202020204" pitchFamily="34" charset="0"/>
                <a:ea typeface="Calibri" pitchFamily="34" charset="-122"/>
                <a:cs typeface="Arial" panose="020B0604020202020204" pitchFamily="34" charset="0"/>
              </a:rPr>
              <a:t>Data was cleaned by removing duplicates, </a:t>
            </a:r>
            <a:r>
              <a:rPr lang="en-US" sz="1400" dirty="0">
                <a:latin typeface="Arial" panose="020B0604020202020204" pitchFamily="34" charset="0"/>
                <a:cs typeface="Arial" panose="020B0604020202020204" pitchFamily="34" charset="0"/>
              </a:rPr>
              <a:t>handling missing values, and standardizing formats in Excel, then transformed and analyzed using formulas, pivot tables, and Power BI and AI insights</a:t>
            </a:r>
            <a:r>
              <a:rPr lang="en-US" sz="1600" dirty="0"/>
              <a:t>.</a:t>
            </a:r>
          </a:p>
          <a:p>
            <a:pPr marL="0" indent="0">
              <a:buNone/>
            </a:pPr>
            <a:endParaRPr lang="en-US" sz="1600" dirty="0">
              <a:latin typeface="Lato" panose="020F0502020204030203"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4245152" cy="1113524"/>
          </a:xfrm>
          <a:prstGeom prst="rect">
            <a:avLst/>
          </a:prstGeom>
          <a:noFill/>
          <a:ln/>
        </p:spPr>
        <p:txBody>
          <a:bodyPr wrap="square" rtlCol="0" anchor="t"/>
          <a:lstStyle/>
          <a:p>
            <a:r>
              <a:rPr lang="en-US" sz="1350" dirty="0">
                <a:latin typeface="Arial" panose="020B0604020202020204" pitchFamily="34" charset="0"/>
                <a:cs typeface="Arial" panose="020B0604020202020204" pitchFamily="34" charset="0"/>
              </a:rPr>
              <a:t>Excel was used for initial data cleaning and preprocessing, including handling missing values, removing duplicates, and applying formulas; Power BI was used develop interactive dashboards; Microsoft Copilot were integrated to generate insights, summarize findings, and assist in report writing through natural language prompts.</a:t>
            </a:r>
          </a:p>
          <a:p>
            <a:pPr marL="0" indent="0">
              <a:buNone/>
            </a:pPr>
            <a:endParaRPr lang="en-US" sz="1600" dirty="0">
              <a:latin typeface="Lato" panose="020F0502020204030203"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r>
              <a:rPr lang="en-US" sz="1400" dirty="0">
                <a:latin typeface="Arial" panose="020B0604020202020204" pitchFamily="34" charset="0"/>
                <a:cs typeface="Arial" panose="020B0604020202020204" pitchFamily="34" charset="0"/>
              </a:rPr>
              <a:t>The final output is an interactive Power BI dashboard supported by a structured report, featuring KPI cards, charts and slicers that visually present key insights such as patient trends, medical conditions, and hospital performance metrics.</a:t>
            </a:r>
          </a:p>
          <a:p>
            <a:pPr marL="0" indent="0">
              <a:buNone/>
            </a:pP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9" name="Shape 7"/>
          <p:cNvSpPr/>
          <p:nvPr/>
        </p:nvSpPr>
        <p:spPr>
          <a:xfrm>
            <a:off x="274320" y="2196877"/>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r>
              <a:rPr lang="en-US" sz="1600" dirty="0">
                <a:latin typeface="Lato" panose="020F0502020204030203" pitchFamily="34" charset="0"/>
                <a:ea typeface="Calibri" pitchFamily="34" charset="-122"/>
                <a:cs typeface="Arial" panose="020B0604020202020204" pitchFamily="34" charset="0"/>
              </a:rPr>
              <a:t>[Add description of Demo 1 here — what this demo shows, key features, and results achieved.]</a:t>
            </a: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r>
              <a:rPr lang="en-US" sz="1600" dirty="0">
                <a:latin typeface="Lato" panose="020F0502020204030203" pitchFamily="34" charset="0"/>
                <a:ea typeface="Calibri" pitchFamily="34" charset="-122"/>
                <a:cs typeface="Arial" panose="020B0604020202020204" pitchFamily="34" charset="0"/>
              </a:rPr>
              <a:t>[Add description of Demo 2 here — what this demo shows, key features, and results achieved.]</a:t>
            </a:r>
            <a:endParaRPr lang="en-US" sz="1600" dirty="0">
              <a:latin typeface="Lato" panose="020F0502020204030203" pitchFamily="34" charset="0"/>
              <a:cs typeface="Arial" panose="020B0604020202020204" pitchFamily="34"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r>
              <a:rPr lang="en-US" sz="1600" dirty="0">
                <a:latin typeface="Lato" panose="020F0502020204030203" pitchFamily="34" charset="0"/>
                <a:ea typeface="Calibri" pitchFamily="34" charset="-122"/>
                <a:cs typeface="Arial" panose="020B0604020202020204" pitchFamily="34" charset="0"/>
              </a:rPr>
              <a:t>[Add description of Demo 3 here — what this demo shows, key features, and results achieved.]</a:t>
            </a:r>
            <a:endParaRPr lang="en-US" sz="1600" dirty="0">
              <a:latin typeface="Lato" panose="020F0502020204030203" pitchFamily="34" charset="0"/>
              <a:cs typeface="Arial" panose="020B0604020202020204" pitchFamily="34" charset="0"/>
            </a:endParaRPr>
          </a:p>
        </p:txBody>
      </p:sp>
      <p:pic>
        <p:nvPicPr>
          <p:cNvPr id="8" name="Picture 7">
            <a:extLst>
              <a:ext uri="{FF2B5EF4-FFF2-40B4-BE49-F238E27FC236}">
                <a16:creationId xmlns:a16="http://schemas.microsoft.com/office/drawing/2014/main" id="{1E55E186-77CA-90F3-CE2B-D9091070E225}"/>
              </a:ext>
            </a:extLst>
          </p:cNvPr>
          <p:cNvPicPr>
            <a:picLocks noChangeAspect="1"/>
          </p:cNvPicPr>
          <p:nvPr/>
        </p:nvPicPr>
        <p:blipFill>
          <a:blip r:embed="rId4"/>
          <a:srcRect l="1932" t="19631" r="36903" b="7466"/>
          <a:stretch>
            <a:fillRect/>
          </a:stretch>
        </p:blipFill>
        <p:spPr>
          <a:xfrm>
            <a:off x="3218688" y="2196877"/>
            <a:ext cx="2807208" cy="2651760"/>
          </a:xfrm>
          <a:prstGeom prst="rect">
            <a:avLst/>
          </a:prstGeom>
        </p:spPr>
      </p:pic>
      <p:pic>
        <p:nvPicPr>
          <p:cNvPr id="22" name="Picture 21">
            <a:extLst>
              <a:ext uri="{FF2B5EF4-FFF2-40B4-BE49-F238E27FC236}">
                <a16:creationId xmlns:a16="http://schemas.microsoft.com/office/drawing/2014/main" id="{A4C3C6A9-7D01-B88E-52A1-E55CC02BB0C7}"/>
              </a:ext>
            </a:extLst>
          </p:cNvPr>
          <p:cNvPicPr>
            <a:picLocks noChangeAspect="1"/>
          </p:cNvPicPr>
          <p:nvPr/>
        </p:nvPicPr>
        <p:blipFill>
          <a:blip r:embed="rId5"/>
          <a:srcRect r="19538" b="25614"/>
          <a:stretch>
            <a:fillRect/>
          </a:stretch>
        </p:blipFill>
        <p:spPr>
          <a:xfrm>
            <a:off x="283464" y="2301722"/>
            <a:ext cx="2779776" cy="2442069"/>
          </a:xfrm>
          <a:prstGeom prst="rect">
            <a:avLst/>
          </a:prstGeom>
        </p:spPr>
      </p:pic>
      <p:pic>
        <p:nvPicPr>
          <p:cNvPr id="24" name="Picture 23">
            <a:extLst>
              <a:ext uri="{FF2B5EF4-FFF2-40B4-BE49-F238E27FC236}">
                <a16:creationId xmlns:a16="http://schemas.microsoft.com/office/drawing/2014/main" id="{DEDD8881-5B15-C9E0-47F3-23BBA4E89D4E}"/>
              </a:ext>
            </a:extLst>
          </p:cNvPr>
          <p:cNvPicPr>
            <a:picLocks noChangeAspect="1"/>
          </p:cNvPicPr>
          <p:nvPr/>
        </p:nvPicPr>
        <p:blipFill>
          <a:blip r:embed="rId6"/>
          <a:srcRect l="31100" r="16308"/>
          <a:stretch>
            <a:fillRect/>
          </a:stretch>
        </p:blipFill>
        <p:spPr>
          <a:xfrm>
            <a:off x="6177109" y="2196877"/>
            <a:ext cx="2843109" cy="2651760"/>
          </a:xfrm>
          <a:prstGeom prst="rect">
            <a:avLst/>
          </a:prstGeom>
        </p:spPr>
      </p:pic>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2" name="Text 10"/>
          <p:cNvSpPr/>
          <p:nvPr/>
        </p:nvSpPr>
        <p:spPr>
          <a:xfrm>
            <a:off x="1389888" y="768096"/>
            <a:ext cx="7205472" cy="292608"/>
          </a:xfrm>
          <a:prstGeom prst="rect">
            <a:avLst/>
          </a:prstGeom>
          <a:noFill/>
          <a:ln/>
        </p:spPr>
        <p:txBody>
          <a:bodyPr wrap="square" rtlCol="0" anchor="ctr"/>
          <a:lstStyle/>
          <a:p>
            <a:r>
              <a:rPr lang="en-IN" sz="1200" u="sng" dirty="0">
                <a:hlinkClick r:id="rId4"/>
              </a:rPr>
              <a:t>https://1drv.ms/v/c/D1FD93578F9E8C8C/IQBnqRj4Yu6hTp_tWBOeDdYSAaGVZuHmiJ-zouaw8Fbe6vs?e=SOLEml</a:t>
            </a:r>
            <a:endParaRPr lang="en-US" sz="12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5178034" cy="3474720"/>
          </a:xfrm>
          <a:prstGeom prst="rect">
            <a:avLst/>
          </a:prstGeom>
          <a:noFill/>
          <a:ln/>
        </p:spPr>
        <p:txBody>
          <a:bodyPr wrap="square" rtlCol="0" anchor="t"/>
          <a:lstStyle/>
          <a:p>
            <a:r>
              <a:rPr lang="en-IN" sz="1400" dirty="0">
                <a:latin typeface="Arial" panose="020B0604020202020204" pitchFamily="34" charset="0"/>
                <a:cs typeface="Arial" panose="020B0604020202020204" pitchFamily="34" charset="0"/>
              </a:rPr>
              <a:t>This project addressed the challenge of transforming raw and inconsistent healthcare data into meaningful insights for better decision-making. Using Excel, Power BI, and Microsoft Copilot, the data was cleaned, analysed, and visualized through an interactive dashboard. Key findings included patterns of patient admissions, prevalence of chronic diseases, and identification of high-risk groups. All project objectives were successfully achieved, including data preprocessing, KPI analysis, visualization, and AI integration. The project adds value by demonstrating a practical, data-driven approach to improving healthcare management. This fellowship experience enhanced my skills in data analytics, visualization, and AI-assisted reporting, making it highly relevant and impactful.</a:t>
            </a:r>
          </a:p>
          <a:p>
            <a:br>
              <a:rPr lang="en-IN" sz="1400" dirty="0">
                <a:latin typeface="Arial" panose="020B0604020202020204" pitchFamily="34" charset="0"/>
                <a:cs typeface="Arial" panose="020B0604020202020204" pitchFamily="34" charset="0"/>
              </a:rPr>
            </a:br>
            <a:endParaRPr lang="en-IN" sz="1400" dirty="0">
              <a:latin typeface="Arial" panose="020B0604020202020204" pitchFamily="34" charset="0"/>
              <a:cs typeface="Arial" panose="020B0604020202020204" pitchFamily="34" charset="0"/>
            </a:endParaRPr>
          </a:p>
          <a:p>
            <a:r>
              <a:rPr lang="en-IN" sz="1400" dirty="0">
                <a:latin typeface="Arial" panose="020B0604020202020204" pitchFamily="34" charset="0"/>
                <a:cs typeface="Arial" panose="020B0604020202020204" pitchFamily="34" charset="0"/>
              </a:rPr>
              <a:t> </a:t>
            </a:r>
          </a:p>
          <a:p>
            <a:pPr marL="0" indent="0">
              <a:buNone/>
            </a:pPr>
            <a:endParaRPr lang="en-US"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r>
              <a:rPr lang="en-US" sz="1400" dirty="0">
                <a:latin typeface="Arial" panose="020B0604020202020204" pitchFamily="34" charset="0"/>
                <a:cs typeface="Arial" panose="020B0604020202020204" pitchFamily="34" charset="0"/>
              </a:rPr>
              <a:t>Future enhancements include integrating real-time data pipelines using APIs or Power Automate to enable live updates. The project can be extended by applying machine learning models for prediction and anomaly detection. Developing a web or Power Apps interface will improve accessibility. Expanding the dataset and incorporating advanced dashboard features, along with deeper AI integration, can further enhance scalability, usability, and decision-making impact.</a:t>
            </a: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423</TotalTime>
  <Words>996</Words>
  <Application>Microsoft Office PowerPoint</Application>
  <PresentationFormat>On-screen Show (16:9)</PresentationFormat>
  <Paragraphs>79</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Courier New</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Sonal Genani</cp:lastModifiedBy>
  <cp:revision>26</cp:revision>
  <dcterms:created xsi:type="dcterms:W3CDTF">2026-02-18T09:17:23Z</dcterms:created>
  <dcterms:modified xsi:type="dcterms:W3CDTF">2026-04-08T16:21:21Z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